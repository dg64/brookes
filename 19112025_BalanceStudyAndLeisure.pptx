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79" r:id="rId5"/>
    <p:sldId id="259" r:id="rId6"/>
    <p:sldId id="260" r:id="rId7"/>
    <p:sldId id="261" r:id="rId8"/>
    <p:sldId id="284" r:id="rId9"/>
    <p:sldId id="262" r:id="rId10"/>
    <p:sldId id="263" r:id="rId11"/>
    <p:sldId id="264" r:id="rId12"/>
    <p:sldId id="265" r:id="rId13"/>
    <p:sldId id="266" r:id="rId14"/>
    <p:sldId id="281" r:id="rId15"/>
    <p:sldId id="282" r:id="rId16"/>
    <p:sldId id="267" r:id="rId17"/>
    <p:sldId id="283" r:id="rId18"/>
    <p:sldId id="268" r:id="rId19"/>
    <p:sldId id="278" r:id="rId20"/>
    <p:sldId id="285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</p:sldIdLst>
  <p:sldSz cx="9144000" cy="5143500" type="screen16x9"/>
  <p:notesSz cx="6858000" cy="9144000"/>
  <p:embeddedFontLst>
    <p:embeddedFont>
      <p:font typeface="Lato" panose="020F0502020204030203" pitchFamily="34" charset="0"/>
      <p:regular r:id="rId32"/>
      <p:bold r:id="rId33"/>
      <p:italic r:id="rId34"/>
      <p:boldItalic r:id="rId35"/>
    </p:embeddedFont>
    <p:embeddedFont>
      <p:font typeface="Playfair Display" pitchFamily="2" charset="77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0" roundtripDataSignature="AMtx7mgV/MMzJ5CM0vaBzWHGS4mbdOHb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68"/>
    <p:restoredTop sz="86418"/>
  </p:normalViewPr>
  <p:slideViewPr>
    <p:cSldViewPr snapToGrid="0">
      <p:cViewPr varScale="1">
        <p:scale>
          <a:sx n="146" d="100"/>
          <a:sy n="146" d="100"/>
        </p:scale>
        <p:origin x="176" y="23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8fd403519_1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" name="Google Shape;77;g368fd403519_1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4928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68fd40351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g368fd40351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8fd403519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g368fd403519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8fd40351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68fd40351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68fd403519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g368fd403519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2142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68fd403519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368fd403519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8fd403519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g368fd403519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68fd40351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g368fd40351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68fd403519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g368fd403519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8fd403519_0_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g368fd403519_0_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fd40351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8fd40351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2460877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fd40351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8fd40351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29791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68fd403519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g368fd403519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fd40351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8fd40351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68099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68fd40351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4" name="Google Shape;144;g368fd40351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RU"/>
          </a:p>
        </p:txBody>
      </p:sp>
    </p:spTree>
    <p:extLst>
      <p:ext uri="{BB962C8B-B14F-4D97-AF65-F5344CB8AC3E}">
        <p14:creationId xmlns:p14="http://schemas.microsoft.com/office/powerpoint/2010/main" val="41325096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81790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fd40351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6" name="Google Shape;156;g368fd40351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2" name="Google Shape;16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638e65b3d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e638e65b3d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e645436769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2e645436769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63a9a2a8f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2e63a9a2a8f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 1">
  <p:cSld name="CUSTOM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3949199"/>
            <a:ext cx="1871300" cy="293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1031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" name="Google Shape;15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photo">
  <p:cSld name="SECTION_TITLE_AND_DESCRIPTION_2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1" name="Google Shape;31;p18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33309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 1">
  <p:cSld name="CUSTOM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4177799"/>
            <a:ext cx="1871300" cy="2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2"/>
          <p:cNvSpPr txBox="1"/>
          <p:nvPr/>
        </p:nvSpPr>
        <p:spPr>
          <a:xfrm>
            <a:off x="1908122" y="3511525"/>
            <a:ext cx="53022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Lazorevyy proezd 7, Moscow, Russia, 129323</a:t>
            </a:r>
            <a:endParaRPr sz="12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admissions@moscow.brookes.org  </a:t>
            </a:r>
            <a:endParaRPr sz="12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38" name="Google Shape;3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0269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inal Slide 2">
  <p:cSld name="CUSTOM_2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6350" y="4177799"/>
            <a:ext cx="1871300" cy="293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/>
          <p:nvPr/>
        </p:nvSpPr>
        <p:spPr>
          <a:xfrm>
            <a:off x="1908122" y="3511525"/>
            <a:ext cx="5302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" sz="16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rPr>
              <a:t>WWW.MOSCOW.BROOKES.ORG</a:t>
            </a:r>
            <a:endParaRPr sz="16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42" name="Google Shape;4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84100" y="1026925"/>
            <a:ext cx="2575801" cy="2575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photo 2">
  <p:cSld name="SECTION_TITLE_AND_DESCRIPTION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>
            <a:spLocks noGrp="1"/>
          </p:cNvSpPr>
          <p:nvPr>
            <p:ph type="title"/>
          </p:nvPr>
        </p:nvSpPr>
        <p:spPr>
          <a:xfrm>
            <a:off x="4808625" y="163840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subTitle" idx="1"/>
          </p:nvPr>
        </p:nvSpPr>
        <p:spPr>
          <a:xfrm>
            <a:off x="4808625" y="3208300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6" name="Google Shape;46;p1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19"/>
          <p:cNvSpPr>
            <a:spLocks noGrp="1"/>
          </p:cNvSpPr>
          <p:nvPr>
            <p:ph type="pic" idx="2"/>
          </p:nvPr>
        </p:nvSpPr>
        <p:spPr>
          <a:xfrm>
            <a:off x="17625" y="17625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>
            <a:spLocks noGrp="1"/>
          </p:cNvSpPr>
          <p:nvPr>
            <p:ph type="title"/>
          </p:nvPr>
        </p:nvSpPr>
        <p:spPr>
          <a:xfrm>
            <a:off x="311700" y="889200"/>
            <a:ext cx="25875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body" idx="1"/>
          </p:nvPr>
        </p:nvSpPr>
        <p:spPr>
          <a:xfrm>
            <a:off x="311700" y="1673485"/>
            <a:ext cx="258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body" idx="2"/>
          </p:nvPr>
        </p:nvSpPr>
        <p:spPr>
          <a:xfrm>
            <a:off x="3258850" y="1673485"/>
            <a:ext cx="2750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body" idx="3"/>
          </p:nvPr>
        </p:nvSpPr>
        <p:spPr>
          <a:xfrm>
            <a:off x="6207725" y="1673485"/>
            <a:ext cx="27504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title" idx="4"/>
          </p:nvPr>
        </p:nvSpPr>
        <p:spPr>
          <a:xfrm>
            <a:off x="3259725" y="889200"/>
            <a:ext cx="2587500" cy="7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title" idx="5"/>
          </p:nvPr>
        </p:nvSpPr>
        <p:spPr>
          <a:xfrm>
            <a:off x="6207750" y="889200"/>
            <a:ext cx="2587500" cy="7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 1">
  <p:cSld name="TITLE_AND_TWO_COLUMNS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6"/>
          <p:cNvSpPr txBox="1">
            <a:spLocks noGrp="1"/>
          </p:cNvSpPr>
          <p:nvPr>
            <p:ph type="title"/>
          </p:nvPr>
        </p:nvSpPr>
        <p:spPr>
          <a:xfrm>
            <a:off x="311700" y="889200"/>
            <a:ext cx="25875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6"/>
          <p:cNvSpPr txBox="1">
            <a:spLocks noGrp="1"/>
          </p:cNvSpPr>
          <p:nvPr>
            <p:ph type="body" idx="1"/>
          </p:nvPr>
        </p:nvSpPr>
        <p:spPr>
          <a:xfrm>
            <a:off x="311700" y="1673485"/>
            <a:ext cx="258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8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9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9" name="Google Shape;69;p29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2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-12775" y="-9600"/>
            <a:ext cx="9156775" cy="515526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None/>
              <a:defRPr sz="2800" b="1" i="0" u="none" strike="noStrike" cap="none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800"/>
              <a:buFont typeface="Lato"/>
              <a:buChar char="●"/>
              <a:defRPr sz="18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●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○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26366"/>
              </a:buClr>
              <a:buSzPts val="1400"/>
              <a:buFont typeface="Lato"/>
              <a:buChar char="■"/>
              <a:defRPr sz="1400" b="0" i="0" u="none" strike="noStrike" cap="none">
                <a:solidFill>
                  <a:srgbClr val="626366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pic>
        <p:nvPicPr>
          <p:cNvPr id="9" name="Google Shape;9;p12"/>
          <p:cNvPicPr preferRelativeResize="0"/>
          <p:nvPr/>
        </p:nvPicPr>
        <p:blipFill rotWithShape="1">
          <a:blip r:embed="rId21">
            <a:alphaModFix/>
          </a:blip>
          <a:srcRect l="5349" t="20452" r="21474" b="20452"/>
          <a:stretch/>
        </p:blipFill>
        <p:spPr>
          <a:xfrm>
            <a:off x="7013475" y="193175"/>
            <a:ext cx="2130523" cy="71754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8fd403519_1_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dirty="0"/>
              <a:t>Balance Study and Leisure</a:t>
            </a:r>
            <a:endParaRPr sz="5200" dirty="0"/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3020" dirty="0"/>
          </a:p>
        </p:txBody>
      </p:sp>
      <p:sp>
        <p:nvSpPr>
          <p:cNvPr id="80" name="Google Shape;80;g368fd403519_1_2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pic>
        <p:nvPicPr>
          <p:cNvPr id="81" name="Google Shape;81;g368fd403519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950" y="1319725"/>
            <a:ext cx="8317148" cy="3326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How much time of your day is devoted to study?</a:t>
            </a: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endParaRPr sz="18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026" name="Picture 2" descr="balancing academics and extracurricular activities | Trench Training">
            <a:extLst>
              <a:ext uri="{FF2B5EF4-FFF2-40B4-BE49-F238E27FC236}">
                <a16:creationId xmlns:a16="http://schemas.microsoft.com/office/drawing/2014/main" id="{349543D4-F326-0BA7-627B-4AF60F5E54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7074" y="1160960"/>
            <a:ext cx="3265715" cy="3265715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2318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68fd403519_0_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Source</a:t>
            </a:r>
            <a:endParaRPr dirty="0"/>
          </a:p>
        </p:txBody>
      </p:sp>
      <p:sp>
        <p:nvSpPr>
          <p:cNvPr id="93" name="Google Shape;93;g368fd403519_0_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35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study in Germany found that over 88% of adolescents experienced a conflict between schoolwork and leisure activities at least once a day. </a:t>
            </a:r>
            <a:endParaRPr sz="35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19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(https://doi.org/10.1016/j.lindif.2008.09.007)</a:t>
            </a:r>
            <a:endParaRPr sz="19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68fd403519_0_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99" name="Google Shape;99;g368fd403519_0_1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What are the causes of this imbalance?</a:t>
            </a: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8fd403519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Causes</a:t>
            </a:r>
            <a:endParaRPr dirty="0"/>
          </a:p>
        </p:txBody>
      </p:sp>
      <p:sp>
        <p:nvSpPr>
          <p:cNvPr id="105" name="Google Shape;105;g368fd403519_0_1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Digital Media - (passive leisure)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Gender - girls seems to be engaged in passive leisure more than boys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Age - older students spend more time in passive leisure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68fd403519_0_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Causes</a:t>
            </a:r>
            <a:endParaRPr dirty="0"/>
          </a:p>
        </p:txBody>
      </p:sp>
      <p:sp>
        <p:nvSpPr>
          <p:cNvPr id="105" name="Google Shape;105;g368fd403519_0_1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-US" sz="28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Procrastination</a:t>
            </a:r>
            <a:endParaRPr sz="2800" b="1"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-US" sz="2800" b="1" dirty="0" err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Lazyness</a:t>
            </a:r>
            <a:endParaRPr sz="2800" b="1"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2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Fear</a:t>
            </a:r>
            <a:endParaRPr sz="2800" b="1"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1917526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68fd403519_0_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111" name="Google Shape;111;g368fd403519_0_2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Why is it important to maintain a balance between study and leisure?</a:t>
            </a: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8fd403519_0_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Negative</a:t>
            </a:r>
            <a:endParaRPr dirty="0"/>
          </a:p>
        </p:txBody>
      </p:sp>
      <p:sp>
        <p:nvSpPr>
          <p:cNvPr id="117" name="Google Shape;117;g368fd403519_0_2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Negative Impact on Performance: An imbalance can lead to reduced academic performance and a lack of essential skill development. 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Stress and Poor Well-being: Lack of a good balance can lead to poorer emotional adjustment and lower quality of life.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8fd403519_0_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Positive</a:t>
            </a:r>
            <a:endParaRPr dirty="0"/>
          </a:p>
        </p:txBody>
      </p:sp>
      <p:sp>
        <p:nvSpPr>
          <p:cNvPr id="123" name="Google Shape;123;g368fd403519_0_3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Improved Academic Performance: A good balance creates a "circle of positivity," leading to better academic performance and skill development. 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spcBef>
                <a:spcPts val="100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Better Quality of Life: Students who effectively manage their free time report higher satisfaction and an improved quality of life.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68fd403519_0_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Quality</a:t>
            </a:r>
            <a:endParaRPr dirty="0"/>
          </a:p>
        </p:txBody>
      </p:sp>
      <p:sp>
        <p:nvSpPr>
          <p:cNvPr id="129" name="Google Shape;129;g368fd403519_0_3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Quality</a:t>
            </a: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8fd403519_0_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 dirty="0"/>
              <a:t>Quality of study</a:t>
            </a:r>
            <a:endParaRPr sz="3020" dirty="0"/>
          </a:p>
        </p:txBody>
      </p:sp>
      <p:sp>
        <p:nvSpPr>
          <p:cNvPr id="135" name="Google Shape;135;g368fd403519_0_4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Remove distractions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Schedule a time for studying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Break your schedule in small chunks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Take a small break between each chunk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Avoid multitasking. Focus on one thing at a time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fd403519_0_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 dirty="0"/>
              <a:t>Time Management</a:t>
            </a:r>
            <a:endParaRPr sz="3020" dirty="0"/>
          </a:p>
        </p:txBody>
      </p:sp>
      <p:sp>
        <p:nvSpPr>
          <p:cNvPr id="147" name="Google Shape;147;g368fd403519_0_5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Create a Daily Schedule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Use Time-Management Tools</a:t>
            </a: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Prioritize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56980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fd403519_0_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 dirty="0"/>
              <a:t>Studying techniques</a:t>
            </a:r>
            <a:endParaRPr sz="3020" dirty="0"/>
          </a:p>
        </p:txBody>
      </p:sp>
      <p:sp>
        <p:nvSpPr>
          <p:cNvPr id="147" name="Google Shape;147;g368fd403519_0_5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Pomodoro technique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Active learning (spaced repetitions, flashcards)</a:t>
            </a: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Break down large tasks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3797432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68fd403519_0_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/>
              <a:t>Quality of Leisure</a:t>
            </a:r>
            <a:endParaRPr sz="3020"/>
          </a:p>
        </p:txBody>
      </p:sp>
      <p:sp>
        <p:nvSpPr>
          <p:cNvPr id="141" name="Google Shape;141;g368fd403519_0_46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Prioritise active leisure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Avoid mobile phones and TV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Socialize (not on social media)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Cultivate a hobby, if do no have one, find it.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4064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2800"/>
              <a:buFont typeface="Playfair Display"/>
              <a:buChar char="●"/>
            </a:pPr>
            <a:r>
              <a:rPr lang="en" sz="2800" b="1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Gratify yourself</a:t>
            </a:r>
            <a:endParaRPr sz="2800" b="1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fd403519_0_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 dirty="0"/>
              <a:t>Relaxation and self-care</a:t>
            </a:r>
            <a:endParaRPr sz="3020" dirty="0"/>
          </a:p>
        </p:txBody>
      </p:sp>
      <p:sp>
        <p:nvSpPr>
          <p:cNvPr id="147" name="Google Shape;147;g368fd403519_0_5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Meditation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Physical activities </a:t>
            </a:r>
          </a:p>
          <a:p>
            <a:pPr marL="285750" indent="-285750" algn="just" fontAlgn="base">
              <a:lnSpc>
                <a:spcPct val="300000"/>
              </a:lnSpc>
              <a:buFont typeface="Arial" panose="020B0604020202020204" pitchFamily="34" charset="0"/>
              <a:buChar char="•"/>
            </a:pPr>
            <a:r>
              <a:rPr lang="en-GB" sz="2400" b="1" dirty="0">
                <a:solidFill>
                  <a:srgbClr val="0D2C6B"/>
                </a:solidFill>
                <a:latin typeface="Playfair Display"/>
              </a:rPr>
              <a:t>Quality sleep</a:t>
            </a:r>
            <a:endParaRPr lang="en-GB" sz="2400" dirty="0">
              <a:solidFill>
                <a:srgbClr val="0D2C6B"/>
              </a:solidFill>
              <a:latin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1372883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68fd403519_0_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020" dirty="0"/>
              <a:t>Benefits</a:t>
            </a:r>
            <a:endParaRPr sz="3020" dirty="0"/>
          </a:p>
        </p:txBody>
      </p:sp>
      <p:sp>
        <p:nvSpPr>
          <p:cNvPr id="147" name="Google Shape;147;g368fd403519_0_5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1400"/>
              <a:buFont typeface="Playfair Display"/>
              <a:buChar char="●"/>
            </a:pPr>
            <a:r>
              <a:rPr lang="en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Enhances memory and problem-solving: </a:t>
            </a:r>
            <a:r>
              <a:rPr lang="en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Leisure activities can improve memory and problem-solving skills.</a:t>
            </a:r>
            <a:endParaRPr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1400"/>
              <a:buFont typeface="Playfair Display"/>
              <a:buChar char="●"/>
            </a:pPr>
            <a:r>
              <a:rPr lang="en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Boosts mental health: </a:t>
            </a:r>
            <a:r>
              <a:rPr lang="en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Leisure is linked to better overall mental health, a crucial factor for academic performance and a greater sense of life satisfaction</a:t>
            </a:r>
            <a:endParaRPr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1400"/>
              <a:buFont typeface="Playfair Display"/>
              <a:buChar char="●"/>
            </a:pPr>
            <a:r>
              <a:rPr lang="en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Improves concentration: </a:t>
            </a:r>
            <a:r>
              <a:rPr lang="en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Taking breaks for recreational activities can improve a student's ability to focus when they return to their studies.</a:t>
            </a:r>
            <a:endParaRPr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2C6B"/>
              </a:buClr>
              <a:buSzPts val="1400"/>
              <a:buFont typeface="Playfair Display"/>
              <a:buChar char="●"/>
            </a:pPr>
            <a:r>
              <a:rPr lang="en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Improves physical and sleep habits: </a:t>
            </a:r>
            <a:r>
              <a:rPr lang="en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Leisure is associated with good physical and eating habits and regular sleep, which are foundational for academic success.</a:t>
            </a:r>
            <a:r>
              <a:rPr lang="en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endParaRPr b="1" dirty="0">
              <a:solidFill>
                <a:srgbClr val="0D2C6B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654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dirty="0">
              <a:solidFill>
                <a:srgbClr val="7030A0"/>
              </a:solidFill>
            </a:endParaRPr>
          </a:p>
        </p:txBody>
      </p:sp>
      <p:sp>
        <p:nvSpPr>
          <p:cNvPr id="200" name="Google Shape;20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8644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0" b="1" dirty="0">
                <a:solidFill>
                  <a:srgbClr val="7030A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  <a:endParaRPr sz="1100" b="1" dirty="0">
              <a:solidFill>
                <a:srgbClr val="7030A0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  <p:extLst>
      <p:ext uri="{BB962C8B-B14F-4D97-AF65-F5344CB8AC3E}">
        <p14:creationId xmlns:p14="http://schemas.microsoft.com/office/powerpoint/2010/main" val="221064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n-US" dirty="0"/>
              <a:t>Question</a:t>
            </a:r>
            <a:endParaRPr dirty="0"/>
          </a:p>
        </p:txBody>
      </p:sp>
      <p:sp>
        <p:nvSpPr>
          <p:cNvPr id="87" name="Google Shape;87;p4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en" sz="5200" b="1" dirty="0">
                <a:solidFill>
                  <a:srgbClr val="0D2C6B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Do you think that study is taking too much of your time?</a:t>
            </a:r>
            <a:endParaRPr sz="1800" b="0" i="0" u="none" strike="noStrike" cap="none" dirty="0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0912701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"/>
          <p:cNvSpPr txBox="1">
            <a:spLocks noGrp="1"/>
          </p:cNvSpPr>
          <p:nvPr>
            <p:ph type="title"/>
          </p:nvPr>
        </p:nvSpPr>
        <p:spPr>
          <a:xfrm>
            <a:off x="220375" y="64222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b="0" dirty="0"/>
          </a:p>
        </p:txBody>
      </p:sp>
      <p:sp>
        <p:nvSpPr>
          <p:cNvPr id="153" name="Google Shape;153;p3"/>
          <p:cNvSpPr txBox="1">
            <a:spLocks noGrp="1"/>
          </p:cNvSpPr>
          <p:nvPr>
            <p:ph type="subTitle" idx="1"/>
          </p:nvPr>
        </p:nvSpPr>
        <p:spPr>
          <a:xfrm>
            <a:off x="220375" y="2334875"/>
            <a:ext cx="4045200" cy="21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endParaRPr sz="1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68fd403519_0_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59" name="Google Shape;159;g368fd403519_0_1"/>
          <p:cNvSpPr txBox="1"/>
          <p:nvPr/>
        </p:nvSpPr>
        <p:spPr>
          <a:xfrm>
            <a:off x="236875" y="1319725"/>
            <a:ext cx="8595300" cy="355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626366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6710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endParaRPr/>
          </a:p>
        </p:txBody>
      </p:sp>
      <p:sp>
        <p:nvSpPr>
          <p:cNvPr id="165" name="Google Shape;16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</a:pPr>
            <a:endParaRPr/>
          </a:p>
        </p:txBody>
      </p:sp>
      <p:sp>
        <p:nvSpPr>
          <p:cNvPr id="166" name="Google Shape;16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72" name="Google Shape;172;p6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73" name="Google Shape;173;p6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e638e65b3d_0_21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79" name="Google Shape;179;g2e638e65b3d_0_21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80" name="Google Shape;180;g2e638e65b3d_0_21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e645436769_0_3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86" name="Google Shape;186;g2e645436769_0_3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87" name="Google Shape;187;g2e645436769_0_3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e63a9a2a8f_0_3"/>
          <p:cNvSpPr txBox="1">
            <a:spLocks noGrp="1"/>
          </p:cNvSpPr>
          <p:nvPr>
            <p:ph type="title"/>
          </p:nvPr>
        </p:nvSpPr>
        <p:spPr>
          <a:xfrm>
            <a:off x="265500" y="195450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endParaRPr/>
          </a:p>
        </p:txBody>
      </p:sp>
      <p:sp>
        <p:nvSpPr>
          <p:cNvPr id="193" name="Google Shape;193;g2e63a9a2a8f_0_3"/>
          <p:cNvSpPr txBox="1">
            <a:spLocks noGrp="1"/>
          </p:cNvSpPr>
          <p:nvPr>
            <p:ph type="subTitle" idx="1"/>
          </p:nvPr>
        </p:nvSpPr>
        <p:spPr>
          <a:xfrm>
            <a:off x="0" y="2098000"/>
            <a:ext cx="4310700" cy="26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100"/>
              <a:buNone/>
            </a:pPr>
            <a:endParaRPr/>
          </a:p>
        </p:txBody>
      </p:sp>
      <p:sp>
        <p:nvSpPr>
          <p:cNvPr id="194" name="Google Shape;194;g2e63a9a2a8f_0_3"/>
          <p:cNvSpPr>
            <a:spLocks noGrp="1"/>
          </p:cNvSpPr>
          <p:nvPr>
            <p:ph type="pic" idx="2"/>
          </p:nvPr>
        </p:nvSpPr>
        <p:spPr>
          <a:xfrm>
            <a:off x="4580800" y="8800"/>
            <a:ext cx="4572000" cy="514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65463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dirty="0"/>
          </a:p>
        </p:txBody>
      </p:sp>
      <p:sp>
        <p:nvSpPr>
          <p:cNvPr id="200" name="Google Shape;200;p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8644200" cy="36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 u="sng">
              <a:solidFill>
                <a:schemeClr val="dk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1831</TotalTime>
  <Words>414</Words>
  <Application>Microsoft Macintosh PowerPoint</Application>
  <PresentationFormat>On-screen Show (16:9)</PresentationFormat>
  <Paragraphs>59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Playfair Display</vt:lpstr>
      <vt:lpstr>Lato</vt:lpstr>
      <vt:lpstr>Simple Light</vt:lpstr>
      <vt:lpstr>PowerPoint Presentation</vt:lpstr>
      <vt:lpstr>Balance Study and Leisure </vt:lpstr>
      <vt:lpstr>Question</vt:lpstr>
      <vt:lpstr>Question</vt:lpstr>
      <vt:lpstr>Source</vt:lpstr>
      <vt:lpstr>Question</vt:lpstr>
      <vt:lpstr>Causes</vt:lpstr>
      <vt:lpstr>Causes</vt:lpstr>
      <vt:lpstr>Question</vt:lpstr>
      <vt:lpstr>Negative</vt:lpstr>
      <vt:lpstr>Positive</vt:lpstr>
      <vt:lpstr>Quality</vt:lpstr>
      <vt:lpstr>Quality of study</vt:lpstr>
      <vt:lpstr>Time Management</vt:lpstr>
      <vt:lpstr>Studying techniques</vt:lpstr>
      <vt:lpstr>Quality of Leisure</vt:lpstr>
      <vt:lpstr>Relaxation and self-care</vt:lpstr>
      <vt:lpstr>Benefits</vt:lpstr>
      <vt:lpstr>PowerPoint Presentation</vt:lpstr>
      <vt:lpstr>Question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Domenico Galizia</cp:lastModifiedBy>
  <cp:revision>3</cp:revision>
  <cp:lastPrinted>2025-10-13T09:59:23Z</cp:lastPrinted>
  <dcterms:modified xsi:type="dcterms:W3CDTF">2025-11-11T12:28:30Z</dcterms:modified>
</cp:coreProperties>
</file>